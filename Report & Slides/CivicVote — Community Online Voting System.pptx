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hflhk4on24ic/mnt/agents/output/civicvote/images/2_E_Voting_Images_Browse_9_911_Stock.png">    </p:cNvPr>
          <p:cNvPicPr>
            <a:picLocks noChangeAspect="1"/>
          </p:cNvPicPr>
          <p:nvPr/>
        </p:nvPicPr>
        <p:blipFill>
          <a:blip r:embed="rId1"/>
          <a:srcRect l="388" r="38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55000">
                <a:srgbClr val="0F172A">
                  <a:alpha val="80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70000" y="3048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3302000"/>
            <a:ext cx="889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64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CIVICVOTE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270000" y="447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Online Voting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51435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Secure Web-Based Election Platform with AI Verification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70000" y="6604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70000" y="685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 Muhammad · BSCS51S24R049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" y="7264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Systems &amp; Technologies · University of Sargodha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7305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overview of the CivicVote project, its architecture, and the system in action.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2286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6000" y="2286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6000" y="2819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background, problem statement, and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0" y="3365500"/>
            <a:ext cx="838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381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6000" y="381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&amp;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6000" y="4343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stack, database design, and core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0000" y="4889500"/>
            <a:ext cx="838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0" y="533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6000" y="5334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6000" y="5867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navigation flows and platform screenshots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0" y="6413500"/>
            <a:ext cx="838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hflhk4on24ic/mnt/agents/output/civicvote/images/5_10_021_Electronic_Voting_Royalty.png">    </p:cNvPr>
          <p:cNvPicPr>
            <a:picLocks noChangeAspect="1"/>
          </p:cNvPicPr>
          <p:nvPr/>
        </p:nvPicPr>
        <p:blipFill>
          <a:blip r:embed="rId1"/>
          <a:srcRect l="4080" r="408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270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270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5016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challenge of manual voting and the CivicVote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0700"/>
            <a:ext cx="54229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&amp; OUR SOLUTION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14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133600"/>
            <a:ext cx="6858000" cy="2730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2286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elections are still managed manually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making the process: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Slow and inefficient for voters and administrators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Prone to human error in vote counting and registration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Inaccessible — voters must be physically present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0" y="17145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133600"/>
            <a:ext cx="7112000" cy="2476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2286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CivicVote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web-based voting system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enables: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Online voter registration from any device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AI-powered CNIC verification via Face++ API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Real-time election results with auto-update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488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334000"/>
            <a:ext cx="14732000" cy="292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524500"/>
            <a:ext cx="1422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Developed over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5-week period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part of the Web Systems &amp; Technologies course, CivicVote demonstrates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full-stack web application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integrating: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Frontend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Responsive UI with HTML, CSS, Bootstrap 5, JavaScript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</a:t>
            </a:r>
            <a:pPr>
              <a:lnSpc>
                <a:spcPct val="16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PHP 8 server with MySQL database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Integration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Face++ face recognition for CNIC verification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Automation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 emails, auto election closing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all mandatory requirements: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CRUD operations, user authentication, automation features, and modern API integration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0700"/>
            <a:ext cx="54229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7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1778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Voting Website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 using HTML, CSS, Bootstrap 5, PHP, and MySQL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177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80500" y="17780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AI-Powered CNIC Verification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Face++ API for secure identity verification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30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0500" y="3302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Admin Election Management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Create, manage, publish, and close elections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330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80500" y="33020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Anti-Double-Vote Protection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 database constraint prevents duplicate votes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82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0500" y="4826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Live Election Results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results with 30-second auto-update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0" y="482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0500" y="48260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Automation Features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 email on registration, auto election closing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635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0500" y="6350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Fully Responsive UI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Usable on mobile, tablet, and desktop devices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hflhk4on24ic/mnt/agents/output/civicvote/images/10_Dark_Mode_Dashboard_Webflow_Template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270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270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&amp;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5016500"/>
            <a:ext cx="825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structure, user roles, and the technology behind CivicVote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520700"/>
            <a:ext cx="54102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714500"/>
            <a:ext cx="46990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85725"/>
                </a:moveTo>
                <a:lnTo>
                  <a:pt x="400050" y="314325"/>
                </a:lnTo>
                <a:lnTo>
                  <a:pt x="57150" y="314325"/>
                </a:lnTo>
                <a:lnTo>
                  <a:pt x="57150" y="85725"/>
                </a:lnTo>
                <a:lnTo>
                  <a:pt x="400050" y="8572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2057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Structure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Styling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Bootstrap 5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Responsive framework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Interactivity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714500"/>
            <a:ext cx="46990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61075" y="203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0" y="20574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 8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Server-side logic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Relational database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mgmt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Authentication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PHPMailer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Email service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14500"/>
            <a:ext cx="48260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8350" y="203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0" y="2057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85500" y="2667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Face++ 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 for CNIC verification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Compares profile pic with CNIC photo. 60%+ confidence required for verification.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165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5359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SERVICE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5969000"/>
            <a:ext cx="654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PHPMailer + Mailtrap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SMTP sandbox for development testing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confirmation email after face verification. Secure password reset links (30-min expiry).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91500" y="5016500"/>
            <a:ext cx="7302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9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50006"/>
                </a:moveTo>
                <a:lnTo>
                  <a:pt x="157163" y="85725"/>
                </a:lnTo>
                <a:lnTo>
                  <a:pt x="300038" y="85725"/>
                </a:lnTo>
                <a:lnTo>
                  <a:pt x="300038" y="50006"/>
                </a:lnTo>
                <a:cubicBezTo>
                  <a:pt x="300038" y="46077"/>
                  <a:pt x="296823" y="42863"/>
                  <a:pt x="292894" y="42863"/>
                </a:cubicBezTo>
                <a:lnTo>
                  <a:pt x="164306" y="42863"/>
                </a:lnTo>
                <a:cubicBezTo>
                  <a:pt x="160377" y="42863"/>
                  <a:pt x="157163" y="46077"/>
                  <a:pt x="157163" y="50006"/>
                </a:cubicBezTo>
                <a:close/>
                <a:moveTo>
                  <a:pt x="114300" y="85725"/>
                </a:moveTo>
                <a:lnTo>
                  <a:pt x="114300" y="50006"/>
                </a:lnTo>
                <a:cubicBezTo>
                  <a:pt x="114300" y="22414"/>
                  <a:pt x="136714" y="0"/>
                  <a:pt x="164306" y="0"/>
                </a:cubicBezTo>
                <a:lnTo>
                  <a:pt x="292894" y="0"/>
                </a:lnTo>
                <a:cubicBezTo>
                  <a:pt x="320486" y="0"/>
                  <a:pt x="342900" y="22414"/>
                  <a:pt x="342900" y="50006"/>
                </a:cubicBezTo>
                <a:lnTo>
                  <a:pt x="342900" y="85725"/>
                </a:lnTo>
                <a:lnTo>
                  <a:pt x="367992" y="85725"/>
                </a:lnTo>
                <a:cubicBezTo>
                  <a:pt x="379333" y="85725"/>
                  <a:pt x="390227" y="90279"/>
                  <a:pt x="398264" y="98316"/>
                </a:cubicBezTo>
                <a:lnTo>
                  <a:pt x="444609" y="144661"/>
                </a:lnTo>
                <a:cubicBezTo>
                  <a:pt x="452646" y="152698"/>
                  <a:pt x="457200" y="163592"/>
                  <a:pt x="457200" y="174933"/>
                </a:cubicBezTo>
                <a:lnTo>
                  <a:pt x="457200" y="242888"/>
                </a:lnTo>
                <a:lnTo>
                  <a:pt x="335756" y="242888"/>
                </a:lnTo>
                <a:lnTo>
                  <a:pt x="335756" y="228600"/>
                </a:lnTo>
                <a:cubicBezTo>
                  <a:pt x="335756" y="216724"/>
                  <a:pt x="326201" y="207169"/>
                  <a:pt x="314325" y="207169"/>
                </a:cubicBezTo>
                <a:cubicBezTo>
                  <a:pt x="302449" y="207169"/>
                  <a:pt x="292894" y="216724"/>
                  <a:pt x="292894" y="228600"/>
                </a:cubicBezTo>
                <a:lnTo>
                  <a:pt x="292894" y="242888"/>
                </a:lnTo>
                <a:lnTo>
                  <a:pt x="164306" y="242888"/>
                </a:lnTo>
                <a:lnTo>
                  <a:pt x="164306" y="228600"/>
                </a:lnTo>
                <a:cubicBezTo>
                  <a:pt x="164306" y="216724"/>
                  <a:pt x="154751" y="207169"/>
                  <a:pt x="142875" y="207169"/>
                </a:cubicBezTo>
                <a:cubicBezTo>
                  <a:pt x="130999" y="207169"/>
                  <a:pt x="121444" y="216724"/>
                  <a:pt x="121444" y="228600"/>
                </a:cubicBezTo>
                <a:lnTo>
                  <a:pt x="121444" y="242888"/>
                </a:lnTo>
                <a:lnTo>
                  <a:pt x="0" y="242888"/>
                </a:lnTo>
                <a:lnTo>
                  <a:pt x="0" y="174933"/>
                </a:lnTo>
                <a:cubicBezTo>
                  <a:pt x="0" y="163592"/>
                  <a:pt x="4554" y="152698"/>
                  <a:pt x="12591" y="144661"/>
                </a:cubicBezTo>
                <a:lnTo>
                  <a:pt x="58936" y="98316"/>
                </a:lnTo>
                <a:cubicBezTo>
                  <a:pt x="66973" y="90279"/>
                  <a:pt x="77867" y="85725"/>
                  <a:pt x="89208" y="85725"/>
                </a:cubicBezTo>
                <a:lnTo>
                  <a:pt x="114300" y="85725"/>
                </a:lnTo>
                <a:close/>
                <a:moveTo>
                  <a:pt x="0" y="371475"/>
                </a:moveTo>
                <a:lnTo>
                  <a:pt x="0" y="285750"/>
                </a:lnTo>
                <a:lnTo>
                  <a:pt x="121444" y="285750"/>
                </a:lnTo>
                <a:lnTo>
                  <a:pt x="121444" y="300038"/>
                </a:lnTo>
                <a:cubicBezTo>
                  <a:pt x="121444" y="311914"/>
                  <a:pt x="130999" y="321469"/>
                  <a:pt x="142875" y="321469"/>
                </a:cubicBezTo>
                <a:cubicBezTo>
                  <a:pt x="154751" y="321469"/>
                  <a:pt x="164306" y="311914"/>
                  <a:pt x="164306" y="300038"/>
                </a:cubicBezTo>
                <a:lnTo>
                  <a:pt x="164306" y="285750"/>
                </a:lnTo>
                <a:lnTo>
                  <a:pt x="292894" y="285750"/>
                </a:lnTo>
                <a:lnTo>
                  <a:pt x="292894" y="300038"/>
                </a:lnTo>
                <a:cubicBezTo>
                  <a:pt x="292894" y="311914"/>
                  <a:pt x="302449" y="321469"/>
                  <a:pt x="314325" y="321469"/>
                </a:cubicBezTo>
                <a:cubicBezTo>
                  <a:pt x="326201" y="321469"/>
                  <a:pt x="335756" y="311914"/>
                  <a:pt x="335756" y="300038"/>
                </a:cubicBezTo>
                <a:lnTo>
                  <a:pt x="335756" y="285750"/>
                </a:lnTo>
                <a:lnTo>
                  <a:pt x="457200" y="285750"/>
                </a:lnTo>
                <a:lnTo>
                  <a:pt x="457200" y="371475"/>
                </a:lnTo>
                <a:cubicBezTo>
                  <a:pt x="457200" y="402997"/>
                  <a:pt x="431572" y="428625"/>
                  <a:pt x="40005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5359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5969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WAMP · VS Code · Git &amp; GitHub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 · Claude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server stack, code editor, version control, UI design, and AI assistance.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520700"/>
            <a:ext cx="54102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4732000" cy="4064000"/>
        </p:xfrm>
        <a:graphic>
          <a:graphicData uri="http://schemas.openxmlformats.org/drawingml/2006/table">
            <a:tbl>
              <a:tblPr/>
              <a:tblGrid>
                <a:gridCol w="2651760"/>
                <a:gridCol w="6187440"/>
                <a:gridCol w="5892800"/>
              </a:tblGrid>
              <a:tr h="73202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Fields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3299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Voter and admin accounts with verification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CNIC, hashed password, profile image, face score, role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83299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Election details with status management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Title, description, start/end dates, status, close reason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3299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candidates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Candidates linked to elections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Name, photo, election_id (foreign key)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83299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Vote records with double-vote prevention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election_id, candidate_id, user_id (unique constraint)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622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DECISION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629400"/>
            <a:ext cx="147320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1079500" y="68326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votes table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implements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 constraint on (election_id, user_id)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this is the core anti-double-vote mechanism. When a voter tries to cast a second vote in the same election, the database rejects the insert, ensuring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voter, one vote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integrity at the data layer.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520700"/>
            <a:ext cx="54102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ROLES &amp; ACCESS CONTROL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778000"/>
            <a:ext cx="4699000" cy="533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984250" y="209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2794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3302000"/>
            <a:ext cx="1079500" cy="304800"/>
          </a:xfrm>
          <a:prstGeom prst="rect">
            <a:avLst/>
          </a:prstGeom>
          <a:solidFill>
            <a:srgbClr val="475569">
              <a:alpha val="13333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302000"/>
            <a:ext cx="1079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8100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Browse elections and results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View public election data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Cannot vote without registration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No access to admin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0" y="1778000"/>
            <a:ext cx="4699000" cy="533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5500" y="2095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134938" y="127000"/>
                </a:moveTo>
                <a:cubicBezTo>
                  <a:pt x="134938" y="61288"/>
                  <a:pt x="188288" y="7938"/>
                  <a:pt x="254000" y="7938"/>
                </a:cubicBezTo>
                <a:cubicBezTo>
                  <a:pt x="319712" y="7938"/>
                  <a:pt x="373063" y="61288"/>
                  <a:pt x="373063" y="127000"/>
                </a:cubicBezTo>
                <a:cubicBezTo>
                  <a:pt x="373063" y="192712"/>
                  <a:pt x="319712" y="246063"/>
                  <a:pt x="254000" y="246063"/>
                </a:cubicBezTo>
                <a:cubicBezTo>
                  <a:pt x="188288" y="246063"/>
                  <a:pt x="134938" y="192712"/>
                  <a:pt x="134938" y="127000"/>
                </a:cubicBezTo>
                <a:close/>
                <a:moveTo>
                  <a:pt x="47625" y="478532"/>
                </a:moveTo>
                <a:cubicBezTo>
                  <a:pt x="47625" y="380802"/>
                  <a:pt x="126802" y="301625"/>
                  <a:pt x="224532" y="301625"/>
                </a:cubicBezTo>
                <a:lnTo>
                  <a:pt x="283468" y="301625"/>
                </a:lnTo>
                <a:cubicBezTo>
                  <a:pt x="381198" y="301625"/>
                  <a:pt x="460375" y="380802"/>
                  <a:pt x="460375" y="478532"/>
                </a:cubicBezTo>
                <a:cubicBezTo>
                  <a:pt x="460375" y="494804"/>
                  <a:pt x="447179" y="508000"/>
                  <a:pt x="430907" y="508000"/>
                </a:cubicBezTo>
                <a:lnTo>
                  <a:pt x="77093" y="508000"/>
                </a:lnTo>
                <a:cubicBezTo>
                  <a:pt x="60821" y="508000"/>
                  <a:pt x="47625" y="494804"/>
                  <a:pt x="47625" y="478532"/>
                </a:cubicBezTo>
                <a:close/>
                <a:moveTo>
                  <a:pt x="607616" y="131663"/>
                </a:moveTo>
                <a:lnTo>
                  <a:pt x="528241" y="258663"/>
                </a:lnTo>
                <a:cubicBezTo>
                  <a:pt x="524073" y="265311"/>
                  <a:pt x="516930" y="269478"/>
                  <a:pt x="509091" y="269875"/>
                </a:cubicBezTo>
                <a:cubicBezTo>
                  <a:pt x="501253" y="270272"/>
                  <a:pt x="493713" y="266700"/>
                  <a:pt x="489049" y="260350"/>
                </a:cubicBezTo>
                <a:lnTo>
                  <a:pt x="441424" y="196850"/>
                </a:lnTo>
                <a:cubicBezTo>
                  <a:pt x="433487" y="186333"/>
                  <a:pt x="435670" y="171450"/>
                  <a:pt x="446187" y="163512"/>
                </a:cubicBezTo>
                <a:cubicBezTo>
                  <a:pt x="456704" y="155575"/>
                  <a:pt x="471587" y="157758"/>
                  <a:pt x="479524" y="168275"/>
                </a:cubicBezTo>
                <a:lnTo>
                  <a:pt x="506313" y="203994"/>
                </a:lnTo>
                <a:lnTo>
                  <a:pt x="567234" y="106462"/>
                </a:lnTo>
                <a:cubicBezTo>
                  <a:pt x="574179" y="95349"/>
                  <a:pt x="588863" y="91877"/>
                  <a:pt x="600075" y="98921"/>
                </a:cubicBezTo>
                <a:cubicBezTo>
                  <a:pt x="611287" y="105966"/>
                  <a:pt x="614660" y="120551"/>
                  <a:pt x="607616" y="13176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969000" y="2794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69000" y="3302000"/>
            <a:ext cx="1524000" cy="304800"/>
          </a:xfrm>
          <a:prstGeom prst="rect">
            <a:avLst/>
          </a:prstGeom>
          <a:solidFill>
            <a:srgbClr val="D97706">
              <a:alpha val="13333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69000" y="3302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69000" y="38100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Register with CNIC verification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Login and cast votes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View real-time results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Cannot create elections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Cannot vote twice in same 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1778000"/>
            <a:ext cx="4826000" cy="533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220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0" y="27940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3302000"/>
            <a:ext cx="1270000" cy="304800"/>
          </a:xfrm>
          <a:prstGeom prst="rect">
            <a:avLst/>
          </a:prstGeom>
          <a:solidFill>
            <a:srgbClr val="1E293B">
              <a:alpha val="13333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0" y="3302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3810000"/>
            <a:ext cx="431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Create/edit/publish elections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Close elections (with reason)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Delete elections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View dashboard stats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Cannot vote (conflict of interest)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520700"/>
            <a:ext cx="54102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 OVERVIEW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714500"/>
            <a:ext cx="7175500" cy="317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1968500"/>
            <a:ext cx="654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VERIFICATION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24384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Face++ API compares CNIC photo with profile picture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Account verified only if confidence ≥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 confirmation email via PHPMailer after verification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91500" y="1714500"/>
            <a:ext cx="7302500" cy="317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1968500"/>
            <a:ext cx="666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SESSION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9000" y="2438400"/>
            <a:ext cx="6667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Session-based login with role-based redirection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Secure password reset with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30-min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expiry links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Hashed password storage in database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43500"/>
            <a:ext cx="4699000" cy="317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539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ELECTION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5867400"/>
            <a:ext cx="406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election listings — no hardcoded content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and filter by name and status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Auto-close when end date passes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5143500"/>
            <a:ext cx="4699000" cy="317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032500" y="5397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VOTING INTEGRITY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5867400"/>
            <a:ext cx="406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Anti-double-vote via unique DB constraint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results with 30s auto-update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voter, one vote guarantee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5143500"/>
            <a:ext cx="4826000" cy="317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85500" y="5397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85500" y="58674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stats: elections, voters, votes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CRUD: create, edit, publish, close, delete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hero with competitive effect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hflhk4on24ic/mnt/agents/output/civicvote/images/4_22_225_Raised_Hands_Vote_Royalty.png">    </p:cNvPr>
          <p:cNvPicPr>
            <a:picLocks noChangeAspect="1"/>
          </p:cNvPicPr>
          <p:nvPr/>
        </p:nvPicPr>
        <p:blipFill>
          <a:blip r:embed="rId1"/>
          <a:srcRect l="0" r="0" t="480" b="48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270000" y="39370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270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 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" y="5016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users navigate the platform and what CivicVote delivers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10833100" y="520700"/>
            <a:ext cx="54229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 FLOW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778000"/>
            <a:ext cx="4699000" cy="622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987425" y="209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2133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VISITOR 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2921000"/>
            <a:ext cx="3683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29210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Home Page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34798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70000" y="3835400"/>
            <a:ext cx="3683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0" y="38354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 / Login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8000" y="43942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70000" y="4749800"/>
            <a:ext cx="3683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7498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Elections List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048000" y="53086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70000" y="5664200"/>
            <a:ext cx="3683000" cy="55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" y="56642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0000" y="64770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Visitors can browse elections and results but must register to participate in voting.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0" y="1778000"/>
            <a:ext cx="4699000" cy="622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11850" y="2095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21444" y="114300"/>
                </a:moveTo>
                <a:cubicBezTo>
                  <a:pt x="121444" y="55159"/>
                  <a:pt x="169459" y="7144"/>
                  <a:pt x="228600" y="7144"/>
                </a:cubicBezTo>
                <a:cubicBezTo>
                  <a:pt x="287741" y="7144"/>
                  <a:pt x="335756" y="55159"/>
                  <a:pt x="335756" y="114300"/>
                </a:cubicBezTo>
                <a:cubicBezTo>
                  <a:pt x="335756" y="173441"/>
                  <a:pt x="287741" y="221456"/>
                  <a:pt x="228600" y="221456"/>
                </a:cubicBezTo>
                <a:cubicBezTo>
                  <a:pt x="169459" y="221456"/>
                  <a:pt x="121444" y="173441"/>
                  <a:pt x="121444" y="114300"/>
                </a:cubicBezTo>
                <a:close/>
                <a:moveTo>
                  <a:pt x="42863" y="430679"/>
                </a:moveTo>
                <a:cubicBezTo>
                  <a:pt x="42863" y="342721"/>
                  <a:pt x="114121" y="271463"/>
                  <a:pt x="202079" y="271463"/>
                </a:cubicBezTo>
                <a:lnTo>
                  <a:pt x="255121" y="271463"/>
                </a:lnTo>
                <a:cubicBezTo>
                  <a:pt x="343079" y="271463"/>
                  <a:pt x="414338" y="342721"/>
                  <a:pt x="414338" y="430679"/>
                </a:cubicBezTo>
                <a:cubicBezTo>
                  <a:pt x="414338" y="445324"/>
                  <a:pt x="402461" y="457200"/>
                  <a:pt x="387816" y="457200"/>
                </a:cubicBezTo>
                <a:lnTo>
                  <a:pt x="69384" y="457200"/>
                </a:lnTo>
                <a:cubicBezTo>
                  <a:pt x="54739" y="457200"/>
                  <a:pt x="42863" y="445324"/>
                  <a:pt x="42863" y="430679"/>
                </a:cubicBezTo>
                <a:close/>
                <a:moveTo>
                  <a:pt x="546854" y="118497"/>
                </a:moveTo>
                <a:lnTo>
                  <a:pt x="475417" y="232797"/>
                </a:lnTo>
                <a:cubicBezTo>
                  <a:pt x="471666" y="238780"/>
                  <a:pt x="465237" y="242530"/>
                  <a:pt x="458182" y="242888"/>
                </a:cubicBezTo>
                <a:cubicBezTo>
                  <a:pt x="451128" y="243245"/>
                  <a:pt x="444341" y="240030"/>
                  <a:pt x="440144" y="234315"/>
                </a:cubicBezTo>
                <a:lnTo>
                  <a:pt x="397282" y="177165"/>
                </a:lnTo>
                <a:cubicBezTo>
                  <a:pt x="390138" y="167700"/>
                  <a:pt x="392103" y="154305"/>
                  <a:pt x="401568" y="147161"/>
                </a:cubicBezTo>
                <a:cubicBezTo>
                  <a:pt x="411034" y="140017"/>
                  <a:pt x="424428" y="141982"/>
                  <a:pt x="431572" y="151448"/>
                </a:cubicBezTo>
                <a:lnTo>
                  <a:pt x="455682" y="183594"/>
                </a:lnTo>
                <a:lnTo>
                  <a:pt x="510510" y="95816"/>
                </a:lnTo>
                <a:cubicBezTo>
                  <a:pt x="516761" y="85814"/>
                  <a:pt x="529977" y="82689"/>
                  <a:pt x="540068" y="89029"/>
                </a:cubicBezTo>
                <a:cubicBezTo>
                  <a:pt x="550158" y="95369"/>
                  <a:pt x="553194" y="108496"/>
                  <a:pt x="546854" y="11858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604000" y="2133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VOTER FLOW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3000" y="2921000"/>
            <a:ext cx="3683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223000" y="29210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Elections List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1000" y="34798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223000" y="3835400"/>
            <a:ext cx="3683000" cy="55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223000" y="38354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Cast Vote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01000" y="43942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223000" y="4749800"/>
            <a:ext cx="3683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223000" y="4749800"/>
            <a:ext cx="368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Results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23000" y="55880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Authenticated voters can participate in open elections and view real-time results.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668000" y="1778000"/>
            <a:ext cx="4826000" cy="622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22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11557000" y="2133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76000" y="2921000"/>
            <a:ext cx="3810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11176000" y="29210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055600" y="34798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11176000" y="3835400"/>
            <a:ext cx="3810000" cy="55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11176000" y="38354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Elections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3055600" y="4394200"/>
            <a:ext cx="0" cy="3556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11176000" y="4749800"/>
            <a:ext cx="3810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11176000" y="47498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Stats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76000" y="55880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Admins have full control over election lifecycle and system management.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10833100" y="520700"/>
            <a:ext cx="54229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22900" y="0"/>
            <a:ext cx="5410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spc="100" kern="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 &amp;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33100" y="0"/>
            <a:ext cx="54229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812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5494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Eight interconnected screens delivering a complete voting experience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159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2941" y="5973"/>
                </a:moveTo>
                <a:cubicBezTo>
                  <a:pt x="184398" y="-1945"/>
                  <a:pt x="171202" y="-1945"/>
                  <a:pt x="162729" y="5973"/>
                </a:cubicBezTo>
                <a:lnTo>
                  <a:pt x="7154" y="150435"/>
                </a:lnTo>
                <a:cubicBezTo>
                  <a:pt x="486" y="156686"/>
                  <a:pt x="-1736" y="166340"/>
                  <a:pt x="1597" y="174814"/>
                </a:cubicBezTo>
                <a:cubicBezTo>
                  <a:pt x="4931" y="183287"/>
                  <a:pt x="13057" y="188913"/>
                  <a:pt x="22225" y="188913"/>
                </a:cubicBezTo>
                <a:lnTo>
                  <a:pt x="33337" y="188913"/>
                </a:lnTo>
                <a:lnTo>
                  <a:pt x="33337" y="311150"/>
                </a:lnTo>
                <a:cubicBezTo>
                  <a:pt x="33337" y="335667"/>
                  <a:pt x="53271" y="355600"/>
                  <a:pt x="77788" y="355600"/>
                </a:cubicBezTo>
                <a:lnTo>
                  <a:pt x="277813" y="355600"/>
                </a:lnTo>
                <a:cubicBezTo>
                  <a:pt x="302329" y="355600"/>
                  <a:pt x="322263" y="335667"/>
                  <a:pt x="322263" y="311150"/>
                </a:cubicBezTo>
                <a:lnTo>
                  <a:pt x="322263" y="188913"/>
                </a:lnTo>
                <a:lnTo>
                  <a:pt x="333375" y="188913"/>
                </a:lnTo>
                <a:cubicBezTo>
                  <a:pt x="342543" y="188913"/>
                  <a:pt x="350738" y="183287"/>
                  <a:pt x="354072" y="174814"/>
                </a:cubicBezTo>
                <a:cubicBezTo>
                  <a:pt x="357406" y="166340"/>
                  <a:pt x="355183" y="156617"/>
                  <a:pt x="348516" y="150435"/>
                </a:cubicBezTo>
                <a:lnTo>
                  <a:pt x="192941" y="5973"/>
                </a:lnTo>
                <a:close/>
                <a:moveTo>
                  <a:pt x="166688" y="222250"/>
                </a:moveTo>
                <a:lnTo>
                  <a:pt x="188913" y="222250"/>
                </a:lnTo>
                <a:cubicBezTo>
                  <a:pt x="207318" y="222250"/>
                  <a:pt x="222250" y="237182"/>
                  <a:pt x="222250" y="255587"/>
                </a:cubicBezTo>
                <a:lnTo>
                  <a:pt x="222250" y="322263"/>
                </a:lnTo>
                <a:lnTo>
                  <a:pt x="133350" y="322263"/>
                </a:lnTo>
                <a:lnTo>
                  <a:pt x="133350" y="255587"/>
                </a:lnTo>
                <a:cubicBezTo>
                  <a:pt x="133350" y="237182"/>
                  <a:pt x="148282" y="222250"/>
                  <a:pt x="166688" y="222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24384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895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hero with candidate photos and competitive effect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0" y="2159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8050" y="241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94456" y="88900"/>
                </a:moveTo>
                <a:cubicBezTo>
                  <a:pt x="94456" y="42901"/>
                  <a:pt x="131801" y="5556"/>
                  <a:pt x="177800" y="5556"/>
                </a:cubicBezTo>
                <a:cubicBezTo>
                  <a:pt x="223799" y="5556"/>
                  <a:pt x="261144" y="42901"/>
                  <a:pt x="261144" y="88900"/>
                </a:cubicBezTo>
                <a:cubicBezTo>
                  <a:pt x="261144" y="134899"/>
                  <a:pt x="223799" y="172244"/>
                  <a:pt x="177800" y="172244"/>
                </a:cubicBezTo>
                <a:cubicBezTo>
                  <a:pt x="131801" y="172244"/>
                  <a:pt x="94456" y="134899"/>
                  <a:pt x="94456" y="88900"/>
                </a:cubicBezTo>
                <a:close/>
                <a:moveTo>
                  <a:pt x="33337" y="334972"/>
                </a:moveTo>
                <a:cubicBezTo>
                  <a:pt x="33337" y="266561"/>
                  <a:pt x="88761" y="211138"/>
                  <a:pt x="157172" y="211138"/>
                </a:cubicBezTo>
                <a:lnTo>
                  <a:pt x="198428" y="211138"/>
                </a:lnTo>
                <a:cubicBezTo>
                  <a:pt x="266839" y="211138"/>
                  <a:pt x="322263" y="266561"/>
                  <a:pt x="322263" y="334972"/>
                </a:cubicBezTo>
                <a:cubicBezTo>
                  <a:pt x="322263" y="346363"/>
                  <a:pt x="313025" y="355600"/>
                  <a:pt x="301635" y="355600"/>
                </a:cubicBezTo>
                <a:lnTo>
                  <a:pt x="53965" y="355600"/>
                </a:lnTo>
                <a:cubicBezTo>
                  <a:pt x="42575" y="355600"/>
                  <a:pt x="33337" y="346363"/>
                  <a:pt x="33337" y="334972"/>
                </a:cubicBezTo>
                <a:close/>
                <a:moveTo>
                  <a:pt x="377825" y="66675"/>
                </a:moveTo>
                <a:cubicBezTo>
                  <a:pt x="387062" y="66675"/>
                  <a:pt x="394494" y="74106"/>
                  <a:pt x="394494" y="83344"/>
                </a:cubicBezTo>
                <a:lnTo>
                  <a:pt x="394494" y="116681"/>
                </a:lnTo>
                <a:lnTo>
                  <a:pt x="427831" y="116681"/>
                </a:lnTo>
                <a:cubicBezTo>
                  <a:pt x="437069" y="116681"/>
                  <a:pt x="444500" y="124113"/>
                  <a:pt x="444500" y="133350"/>
                </a:cubicBezTo>
                <a:cubicBezTo>
                  <a:pt x="444500" y="142587"/>
                  <a:pt x="437069" y="150019"/>
                  <a:pt x="427831" y="150019"/>
                </a:cubicBezTo>
                <a:lnTo>
                  <a:pt x="394494" y="150019"/>
                </a:lnTo>
                <a:lnTo>
                  <a:pt x="394494" y="183356"/>
                </a:lnTo>
                <a:cubicBezTo>
                  <a:pt x="394494" y="192594"/>
                  <a:pt x="387062" y="200025"/>
                  <a:pt x="377825" y="200025"/>
                </a:cubicBezTo>
                <a:cubicBezTo>
                  <a:pt x="368588" y="200025"/>
                  <a:pt x="361156" y="192594"/>
                  <a:pt x="361156" y="183356"/>
                </a:cubicBezTo>
                <a:lnTo>
                  <a:pt x="361156" y="150019"/>
                </a:lnTo>
                <a:lnTo>
                  <a:pt x="327819" y="150019"/>
                </a:lnTo>
                <a:cubicBezTo>
                  <a:pt x="318581" y="150019"/>
                  <a:pt x="311150" y="142587"/>
                  <a:pt x="311150" y="133350"/>
                </a:cubicBezTo>
                <a:cubicBezTo>
                  <a:pt x="311150" y="124113"/>
                  <a:pt x="318581" y="116681"/>
                  <a:pt x="327819" y="116681"/>
                </a:cubicBezTo>
                <a:lnTo>
                  <a:pt x="361156" y="116681"/>
                </a:lnTo>
                <a:lnTo>
                  <a:pt x="361156" y="83344"/>
                </a:lnTo>
                <a:cubicBezTo>
                  <a:pt x="361156" y="74106"/>
                  <a:pt x="368588" y="66675"/>
                  <a:pt x="377825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270500" y="24384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 Page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2895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CNIC, profile picture, and CNIC photo upload with AI verification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2159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9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9613" y="189607"/>
                </a:moveTo>
                <a:cubicBezTo>
                  <a:pt x="246142" y="183078"/>
                  <a:pt x="246142" y="172522"/>
                  <a:pt x="239613" y="166062"/>
                </a:cubicBezTo>
                <a:lnTo>
                  <a:pt x="139601" y="65980"/>
                </a:lnTo>
                <a:cubicBezTo>
                  <a:pt x="134809" y="61188"/>
                  <a:pt x="127655" y="59799"/>
                  <a:pt x="121404" y="62369"/>
                </a:cubicBezTo>
                <a:cubicBezTo>
                  <a:pt x="115153" y="64939"/>
                  <a:pt x="111125" y="71051"/>
                  <a:pt x="111125" y="77788"/>
                </a:cubicBezTo>
                <a:lnTo>
                  <a:pt x="111125" y="133350"/>
                </a:lnTo>
                <a:lnTo>
                  <a:pt x="33337" y="133350"/>
                </a:lnTo>
                <a:cubicBezTo>
                  <a:pt x="14932" y="133350"/>
                  <a:pt x="0" y="148282"/>
                  <a:pt x="0" y="166688"/>
                </a:cubicBezTo>
                <a:lnTo>
                  <a:pt x="0" y="188913"/>
                </a:lnTo>
                <a:cubicBezTo>
                  <a:pt x="0" y="207318"/>
                  <a:pt x="14932" y="222250"/>
                  <a:pt x="33337" y="222250"/>
                </a:cubicBezTo>
                <a:lnTo>
                  <a:pt x="111125" y="222250"/>
                </a:lnTo>
                <a:lnTo>
                  <a:pt x="111125" y="277813"/>
                </a:lnTo>
                <a:cubicBezTo>
                  <a:pt x="111125" y="284549"/>
                  <a:pt x="115153" y="290661"/>
                  <a:pt x="121404" y="293231"/>
                </a:cubicBezTo>
                <a:cubicBezTo>
                  <a:pt x="127655" y="295801"/>
                  <a:pt x="134809" y="294412"/>
                  <a:pt x="139601" y="289620"/>
                </a:cubicBezTo>
                <a:lnTo>
                  <a:pt x="239613" y="189607"/>
                </a:lnTo>
                <a:close/>
                <a:moveTo>
                  <a:pt x="244475" y="288925"/>
                </a:moveTo>
                <a:cubicBezTo>
                  <a:pt x="232182" y="288925"/>
                  <a:pt x="222250" y="298857"/>
                  <a:pt x="222250" y="311150"/>
                </a:cubicBezTo>
                <a:cubicBezTo>
                  <a:pt x="222250" y="323443"/>
                  <a:pt x="232182" y="333375"/>
                  <a:pt x="244475" y="333375"/>
                </a:cubicBezTo>
                <a:lnTo>
                  <a:pt x="288925" y="333375"/>
                </a:lnTo>
                <a:cubicBezTo>
                  <a:pt x="325735" y="333375"/>
                  <a:pt x="355600" y="303510"/>
                  <a:pt x="355600" y="266700"/>
                </a:cubicBezTo>
                <a:lnTo>
                  <a:pt x="355600" y="88900"/>
                </a:lnTo>
                <a:cubicBezTo>
                  <a:pt x="355600" y="52090"/>
                  <a:pt x="325735" y="22225"/>
                  <a:pt x="288925" y="22225"/>
                </a:cubicBezTo>
                <a:lnTo>
                  <a:pt x="244475" y="22225"/>
                </a:lnTo>
                <a:cubicBezTo>
                  <a:pt x="232182" y="22225"/>
                  <a:pt x="222250" y="32157"/>
                  <a:pt x="222250" y="44450"/>
                </a:cubicBezTo>
                <a:cubicBezTo>
                  <a:pt x="222250" y="56743"/>
                  <a:pt x="232182" y="66675"/>
                  <a:pt x="244475" y="66675"/>
                </a:cubicBez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66700"/>
                </a:lnTo>
                <a:cubicBezTo>
                  <a:pt x="311150" y="278993"/>
                  <a:pt x="301218" y="288925"/>
                  <a:pt x="288925" y="288925"/>
                </a:cubicBezTo>
                <a:lnTo>
                  <a:pt x="244475" y="2889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24384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2895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authentication with session management and password reset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001500" y="2159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55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2763500" y="24384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Elections List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2895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listings with search and filter by name and status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064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8225" y="412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214193" y="147727"/>
                </a:moveTo>
                <a:lnTo>
                  <a:pt x="158631" y="236627"/>
                </a:lnTo>
                <a:cubicBezTo>
                  <a:pt x="155714" y="241280"/>
                  <a:pt x="150713" y="244197"/>
                  <a:pt x="145226" y="244475"/>
                </a:cubicBezTo>
                <a:cubicBezTo>
                  <a:pt x="139740" y="244753"/>
                  <a:pt x="134461" y="242253"/>
                  <a:pt x="131197" y="237808"/>
                </a:cubicBezTo>
                <a:lnTo>
                  <a:pt x="97859" y="193357"/>
                </a:lnTo>
                <a:cubicBezTo>
                  <a:pt x="92303" y="185995"/>
                  <a:pt x="93831" y="175577"/>
                  <a:pt x="101193" y="170021"/>
                </a:cubicBezTo>
                <a:cubicBezTo>
                  <a:pt x="108555" y="164465"/>
                  <a:pt x="118973" y="165993"/>
                  <a:pt x="124529" y="173355"/>
                </a:cubicBezTo>
                <a:lnTo>
                  <a:pt x="143282" y="198358"/>
                </a:lnTo>
                <a:lnTo>
                  <a:pt x="185926" y="130086"/>
                </a:lnTo>
                <a:cubicBezTo>
                  <a:pt x="190788" y="122307"/>
                  <a:pt x="201067" y="119876"/>
                  <a:pt x="208915" y="124807"/>
                </a:cubicBezTo>
                <a:cubicBezTo>
                  <a:pt x="216763" y="129738"/>
                  <a:pt x="219125" y="139948"/>
                  <a:pt x="214193" y="14779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524000" y="41529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Cast Vote Page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4800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voting interface with candidate selection and confirmation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08500" y="4064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625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100013" y="155575"/>
                </a:moveTo>
                <a:cubicBezTo>
                  <a:pt x="112306" y="155575"/>
                  <a:pt x="122238" y="165507"/>
                  <a:pt x="122238" y="177800"/>
                </a:cubicBezTo>
                <a:lnTo>
                  <a:pt x="122238" y="222250"/>
                </a:lnTo>
                <a:cubicBezTo>
                  <a:pt x="122238" y="234543"/>
                  <a:pt x="112306" y="244475"/>
                  <a:pt x="100013" y="244475"/>
                </a:cubicBezTo>
                <a:cubicBezTo>
                  <a:pt x="87719" y="244475"/>
                  <a:pt x="77788" y="234543"/>
                  <a:pt x="77788" y="222250"/>
                </a:cubicBezTo>
                <a:lnTo>
                  <a:pt x="77788" y="177800"/>
                </a:lnTo>
                <a:cubicBezTo>
                  <a:pt x="77788" y="165507"/>
                  <a:pt x="87719" y="155575"/>
                  <a:pt x="100013" y="155575"/>
                </a:cubicBezTo>
                <a:close/>
                <a:moveTo>
                  <a:pt x="200025" y="111125"/>
                </a:moveTo>
                <a:lnTo>
                  <a:pt x="200025" y="222250"/>
                </a:lnTo>
                <a:cubicBezTo>
                  <a:pt x="200025" y="234543"/>
                  <a:pt x="190093" y="244475"/>
                  <a:pt x="177800" y="244475"/>
                </a:cubicBezTo>
                <a:cubicBezTo>
                  <a:pt x="165507" y="244475"/>
                  <a:pt x="155575" y="234543"/>
                  <a:pt x="155575" y="222250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55587" y="133350"/>
                </a:moveTo>
                <a:cubicBezTo>
                  <a:pt x="267881" y="133350"/>
                  <a:pt x="277813" y="143282"/>
                  <a:pt x="277813" y="155575"/>
                </a:cubicBezTo>
                <a:lnTo>
                  <a:pt x="277813" y="222250"/>
                </a:lnTo>
                <a:cubicBezTo>
                  <a:pt x="277813" y="234543"/>
                  <a:pt x="267881" y="244475"/>
                  <a:pt x="255587" y="244475"/>
                </a:cubicBezTo>
                <a:cubicBezTo>
                  <a:pt x="243294" y="244475"/>
                  <a:pt x="233363" y="234543"/>
                  <a:pt x="233363" y="222250"/>
                </a:cubicBezTo>
                <a:lnTo>
                  <a:pt x="233363" y="155575"/>
                </a:lnTo>
                <a:cubicBezTo>
                  <a:pt x="233363" y="143282"/>
                  <a:pt x="243294" y="133350"/>
                  <a:pt x="255587" y="133350"/>
                </a:cubicBezTo>
                <a:close/>
                <a:moveTo>
                  <a:pt x="355600" y="66675"/>
                </a:moveTo>
                <a:lnTo>
                  <a:pt x="355600" y="222250"/>
                </a:lnTo>
                <a:cubicBezTo>
                  <a:pt x="355600" y="234543"/>
                  <a:pt x="345668" y="244475"/>
                  <a:pt x="333375" y="244475"/>
                </a:cubicBezTo>
                <a:cubicBezTo>
                  <a:pt x="321082" y="244475"/>
                  <a:pt x="311150" y="234543"/>
                  <a:pt x="311150" y="222250"/>
                </a:cubicBezTo>
                <a:lnTo>
                  <a:pt x="311150" y="66675"/>
                </a:lnTo>
                <a:cubicBezTo>
                  <a:pt x="311150" y="54382"/>
                  <a:pt x="321082" y="44450"/>
                  <a:pt x="333375" y="44450"/>
                </a:cubicBezTo>
                <a:cubicBezTo>
                  <a:pt x="345668" y="44450"/>
                  <a:pt x="355600" y="54382"/>
                  <a:pt x="355600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5270500" y="41529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Page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62500" y="4800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election results with auto-update every 30 seconds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5000" y="4064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9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9017000" y="41529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9000" y="4800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statistics: total elections, voters, and votes cast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01500" y="4064000"/>
            <a:ext cx="34925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122555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12763500" y="41529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Elections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255500" y="4800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4755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CRUD: create, edit, publish, close, and delete elections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6032500"/>
            <a:ext cx="14732000" cy="2349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10795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IMPLEMENTATION HIGHLIGHTS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9500" y="6667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First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AI face verification (60%+ confidence), hashed passwords, session-based auth, unique vote constraints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Automation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 email on registration, auto election closing on end date, 30-second result refresh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Full-Stack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Frontend + Backend + Database + AI API + Email Service — all integrated in a single platform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4755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hflhk4on24ic/mnt/agents/output/civicvote/images/1_Digital_Fingerprint_Scan_Glowing.pn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1000"/>
                </a:srgbClr>
              </a:gs>
              <a:gs pos="6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4318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Secure, Smart, Transparent Voting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0165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5461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CivicVote</a:t>
            </a:r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Community Online Voting System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Systems &amp; Technologies · Department of CS &amp; AI · University of Sargodha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673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 Muhammad · BSCS51S24R049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3000" y="7175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Instructor: Sir Ali Haidar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CivicVote — Community Online Voting System</dc:title>
  <dc:subject>CivicVote — Community Online Voting System</dc:subject>
  <dc:creator>Kimi</dc:creator>
  <cp:lastModifiedBy>Kimi</cp:lastModifiedBy>
  <cp:revision>1</cp:revision>
  <dcterms:created xsi:type="dcterms:W3CDTF">2026-06-04T00:00:49Z</dcterms:created>
  <dcterms:modified xsi:type="dcterms:W3CDTF">2026-06-04T00:00:49Z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{"Label":"CivicVote — Community Online Voting System","ContentProducer":"001191110108MACG2KBH8F10000","ProduceID":"19e8fec6-5f52-8e4a-8000-000044127838","ReservedCode1":"","ContentPropagator":"001191110108MACG2KBH8F20000","PropagateID":"19e8fec6-5f52-8e4a-8000-000044127838","ReservedCode2":""}</vt:lpwstr>
  </property>
</Properties>
</file>